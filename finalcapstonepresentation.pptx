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57" r:id="rId3"/>
    <p:sldId id="258" r:id="rId4"/>
    <p:sldId id="259" r:id="rId5"/>
    <p:sldId id="269" r:id="rId6"/>
    <p:sldId id="268" r:id="rId7"/>
    <p:sldId id="261" r:id="rId8"/>
    <p:sldId id="263" r:id="rId9"/>
    <p:sldId id="270" r:id="rId10"/>
    <p:sldId id="264" r:id="rId11"/>
    <p:sldId id="271" r:id="rId12"/>
    <p:sldId id="265" r:id="rId13"/>
    <p:sldId id="26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967" autoAdjust="0"/>
  </p:normalViewPr>
  <p:slideViewPr>
    <p:cSldViewPr snapToGrid="0">
      <p:cViewPr varScale="1">
        <p:scale>
          <a:sx n="70" d="100"/>
          <a:sy n="70" d="100"/>
        </p:scale>
        <p:origin x="116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A4A9D8-B898-4D1B-A344-27B2B948D634}" type="datetimeFigureOut">
              <a:rPr lang="en-US" smtClean="0"/>
              <a:t>5/20/2026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F4CC14-C132-458E-8229-0B880DBCD8C6}" type="slidenum">
              <a:rPr lang="en-US" smtClean="0"/>
              <a:t>‹#›</a:t>
            </a:fld>
            <a:endParaRPr lang="en-US"/>
          </a:p>
        </p:txBody>
      </p:sp>
    </p:spTree>
    <p:extLst>
      <p:ext uri="{BB962C8B-B14F-4D97-AF65-F5344CB8AC3E}">
        <p14:creationId xmlns:p14="http://schemas.microsoft.com/office/powerpoint/2010/main" val="236332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issue is especially important in rural communities, where residents may need to travel much longer distances to reach grocery stores.</a:t>
            </a:r>
          </a:p>
          <a:p>
            <a:r>
              <a:rPr lang="en-US" dirty="0"/>
              <a:t>Living in West Virginia also made this topic personally interesting to me because many Appalachian communities face geographic and transportation barriers</a:t>
            </a:r>
          </a:p>
        </p:txBody>
      </p:sp>
      <p:sp>
        <p:nvSpPr>
          <p:cNvPr id="4" name="Slide Number Placeholder 3"/>
          <p:cNvSpPr>
            <a:spLocks noGrp="1"/>
          </p:cNvSpPr>
          <p:nvPr>
            <p:ph type="sldNum" sz="quarter" idx="5"/>
          </p:nvPr>
        </p:nvSpPr>
        <p:spPr/>
        <p:txBody>
          <a:bodyPr/>
          <a:lstStyle/>
          <a:p>
            <a:fld id="{86F4CC14-C132-458E-8229-0B880DBCD8C6}" type="slidenum">
              <a:rPr lang="en-US" smtClean="0"/>
              <a:t>2</a:t>
            </a:fld>
            <a:endParaRPr lang="en-US"/>
          </a:p>
        </p:txBody>
      </p:sp>
    </p:spTree>
    <p:extLst>
      <p:ext uri="{BB962C8B-B14F-4D97-AF65-F5344CB8AC3E}">
        <p14:creationId xmlns:p14="http://schemas.microsoft.com/office/powerpoint/2010/main" val="3586260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250000"/>
              </a:lnSpc>
            </a:pPr>
            <a:r>
              <a:rPr lang="en-US" b="1" dirty="0"/>
              <a:t>Main Research Question</a:t>
            </a:r>
          </a:p>
          <a:p>
            <a:pPr marL="285750" indent="-285750">
              <a:lnSpc>
                <a:spcPct val="250000"/>
              </a:lnSpc>
              <a:buFont typeface="Arial" panose="020B0604020202020204" pitchFamily="34" charset="0"/>
              <a:buChar char="•"/>
            </a:pPr>
            <a:r>
              <a:rPr lang="en-US" dirty="0"/>
              <a:t>How does geographic location influence food access patterns across the United States?</a:t>
            </a:r>
          </a:p>
          <a:p>
            <a:pPr>
              <a:lnSpc>
                <a:spcPct val="250000"/>
              </a:lnSpc>
            </a:pPr>
            <a:r>
              <a:rPr lang="en-US" b="1" dirty="0"/>
              <a:t>Supporting Questions</a:t>
            </a:r>
          </a:p>
          <a:p>
            <a:r>
              <a:rPr lang="en-US" dirty="0"/>
              <a:t>To answer that, I broke the analysis into a few supporting questions:</a:t>
            </a:r>
          </a:p>
          <a:p>
            <a:endParaRPr lang="en-US" b="1" dirty="0"/>
          </a:p>
          <a:p>
            <a:pPr marL="285750" indent="-285750">
              <a:lnSpc>
                <a:spcPct val="250000"/>
              </a:lnSpc>
              <a:buFont typeface="Arial" panose="020B0604020202020204" pitchFamily="34" charset="0"/>
              <a:buChar char="•"/>
            </a:pPr>
            <a:r>
              <a:rPr lang="en-US" dirty="0"/>
              <a:t>What geographic patterns of low food access appear across the United States?</a:t>
            </a:r>
          </a:p>
          <a:p>
            <a:pPr marL="285750" marR="0" lvl="0" indent="-285750" algn="l" defTabSz="914400" rtl="0" eaLnBrk="1" fontAlgn="auto" latinLnBrk="0" hangingPunct="1">
              <a:lnSpc>
                <a:spcPct val="250000"/>
              </a:lnSpc>
              <a:spcBef>
                <a:spcPts val="0"/>
              </a:spcBef>
              <a:spcAft>
                <a:spcPts val="0"/>
              </a:spcAft>
              <a:buClrTx/>
              <a:buSzTx/>
              <a:buFont typeface="Arial" panose="020B0604020202020204" pitchFamily="34" charset="0"/>
              <a:buChar char="•"/>
              <a:tabLst/>
              <a:defRPr/>
            </a:pPr>
            <a:r>
              <a:rPr lang="en-US" dirty="0"/>
              <a:t>How do food access rates differ across demographic groups?</a:t>
            </a:r>
          </a:p>
          <a:p>
            <a:pPr marL="285750" indent="-285750">
              <a:lnSpc>
                <a:spcPct val="250000"/>
              </a:lnSpc>
              <a:buFont typeface="Arial" panose="020B0604020202020204" pitchFamily="34" charset="0"/>
              <a:buChar char="•"/>
            </a:pPr>
            <a:r>
              <a:rPr lang="en-US" dirty="0"/>
              <a:t>How do food access patterns differ between rural and urban communities?</a:t>
            </a:r>
          </a:p>
          <a:p>
            <a:pPr marL="285750" indent="-285750">
              <a:lnSpc>
                <a:spcPct val="250000"/>
              </a:lnSpc>
              <a:buFont typeface="Arial" panose="020B0604020202020204" pitchFamily="34" charset="0"/>
              <a:buChar char="•"/>
            </a:pPr>
            <a:r>
              <a:rPr lang="en-US" dirty="0"/>
              <a:t>How does food access vary across counties in West Virginia and Kentucky?</a:t>
            </a:r>
          </a:p>
          <a:p>
            <a:endParaRPr lang="en-US" dirty="0"/>
          </a:p>
        </p:txBody>
      </p:sp>
      <p:sp>
        <p:nvSpPr>
          <p:cNvPr id="4" name="Slide Number Placeholder 3"/>
          <p:cNvSpPr>
            <a:spLocks noGrp="1"/>
          </p:cNvSpPr>
          <p:nvPr>
            <p:ph type="sldNum" sz="quarter" idx="5"/>
          </p:nvPr>
        </p:nvSpPr>
        <p:spPr/>
        <p:txBody>
          <a:bodyPr/>
          <a:lstStyle/>
          <a:p>
            <a:fld id="{86F4CC14-C132-458E-8229-0B880DBCD8C6}" type="slidenum">
              <a:rPr lang="en-US" smtClean="0"/>
              <a:t>3</a:t>
            </a:fld>
            <a:endParaRPr lang="en-US"/>
          </a:p>
        </p:txBody>
      </p:sp>
    </p:spTree>
    <p:extLst>
      <p:ext uri="{BB962C8B-B14F-4D97-AF65-F5344CB8AC3E}">
        <p14:creationId xmlns:p14="http://schemas.microsoft.com/office/powerpoint/2010/main" val="2718435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data from the USDA Food Access Research Atlas.   Excel helped with initial exploration and validation.    </a:t>
            </a:r>
          </a:p>
          <a:p>
            <a:endParaRPr lang="en-US" dirty="0"/>
          </a:p>
          <a:p>
            <a:r>
              <a:rPr lang="en-US" dirty="0"/>
              <a:t>Python was used for:</a:t>
            </a:r>
          </a:p>
          <a:p>
            <a:r>
              <a:rPr lang="en-US" dirty="0"/>
              <a:t>cleaning data </a:t>
            </a:r>
          </a:p>
          <a:p>
            <a:r>
              <a:rPr lang="en-US" dirty="0"/>
              <a:t>geographic analysis </a:t>
            </a:r>
          </a:p>
          <a:p>
            <a:r>
              <a:rPr lang="en-US" dirty="0"/>
              <a:t>and building visualizations. </a:t>
            </a:r>
          </a:p>
        </p:txBody>
      </p:sp>
      <p:sp>
        <p:nvSpPr>
          <p:cNvPr id="4" name="Slide Number Placeholder 3"/>
          <p:cNvSpPr>
            <a:spLocks noGrp="1"/>
          </p:cNvSpPr>
          <p:nvPr>
            <p:ph type="sldNum" sz="quarter" idx="5"/>
          </p:nvPr>
        </p:nvSpPr>
        <p:spPr/>
        <p:txBody>
          <a:bodyPr/>
          <a:lstStyle/>
          <a:p>
            <a:fld id="{86F4CC14-C132-458E-8229-0B880DBCD8C6}" type="slidenum">
              <a:rPr lang="en-US" smtClean="0"/>
              <a:t>4</a:t>
            </a:fld>
            <a:endParaRPr lang="en-US"/>
          </a:p>
        </p:txBody>
      </p:sp>
    </p:spTree>
    <p:extLst>
      <p:ext uri="{BB962C8B-B14F-4D97-AF65-F5344CB8AC3E}">
        <p14:creationId xmlns:p14="http://schemas.microsoft.com/office/powerpoint/2010/main" val="14063404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darker states on this map represent higher average levels of low food access.</a:t>
            </a:r>
          </a:p>
          <a:p>
            <a:r>
              <a:rPr lang="en-US" dirty="0"/>
              <a:t>One thing that stood out was that food access challenges were not distributed evenly across the country. Certain regions showed much higher concentrations than others.</a:t>
            </a:r>
          </a:p>
        </p:txBody>
      </p:sp>
      <p:sp>
        <p:nvSpPr>
          <p:cNvPr id="4" name="Slide Number Placeholder 3"/>
          <p:cNvSpPr>
            <a:spLocks noGrp="1"/>
          </p:cNvSpPr>
          <p:nvPr>
            <p:ph type="sldNum" sz="quarter" idx="5"/>
          </p:nvPr>
        </p:nvSpPr>
        <p:spPr/>
        <p:txBody>
          <a:bodyPr/>
          <a:lstStyle/>
          <a:p>
            <a:fld id="{86F4CC14-C132-458E-8229-0B880DBCD8C6}" type="slidenum">
              <a:rPr lang="en-US" smtClean="0"/>
              <a:t>5</a:t>
            </a:fld>
            <a:endParaRPr lang="en-US"/>
          </a:p>
        </p:txBody>
      </p:sp>
    </p:spTree>
    <p:extLst>
      <p:ext uri="{BB962C8B-B14F-4D97-AF65-F5344CB8AC3E}">
        <p14:creationId xmlns:p14="http://schemas.microsoft.com/office/powerpoint/2010/main" val="1026363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explored racial demographic distributions to determine if this played a role in low food access, but it did not. I then explored which demographic groups appeared most represented within low-access areas. One major finding was that low-income populations experienced the highest levels of limited food access overall. Food access challenges were most concentrated among low-income communities, highlighting the role economic inequality may play in access to grocery stores. </a:t>
            </a:r>
          </a:p>
        </p:txBody>
      </p:sp>
      <p:sp>
        <p:nvSpPr>
          <p:cNvPr id="4" name="Slide Number Placeholder 3"/>
          <p:cNvSpPr>
            <a:spLocks noGrp="1"/>
          </p:cNvSpPr>
          <p:nvPr>
            <p:ph type="sldNum" sz="quarter" idx="5"/>
          </p:nvPr>
        </p:nvSpPr>
        <p:spPr/>
        <p:txBody>
          <a:bodyPr/>
          <a:lstStyle/>
          <a:p>
            <a:fld id="{86F4CC14-C132-458E-8229-0B880DBCD8C6}" type="slidenum">
              <a:rPr lang="en-US" smtClean="0"/>
              <a:t>6</a:t>
            </a:fld>
            <a:endParaRPr lang="en-US"/>
          </a:p>
        </p:txBody>
      </p:sp>
    </p:spTree>
    <p:extLst>
      <p:ext uri="{BB962C8B-B14F-4D97-AF65-F5344CB8AC3E}">
        <p14:creationId xmlns:p14="http://schemas.microsoft.com/office/powerpoint/2010/main" val="3180753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 compared rural and urban communities. Urban areas represent more densely populated communities, while rural areas represent less populated and more geographically isolated communities. The analysis showed noticeable differences in food access distribution between rural and urban areas.  In many rural areas, distance and transportation barriers appeared more significant, while urban areas often showed clustering linked to poverty and population density. These findings led me to focus more closely on Appalachia and specifically West Virginia.</a:t>
            </a:r>
          </a:p>
        </p:txBody>
      </p:sp>
      <p:sp>
        <p:nvSpPr>
          <p:cNvPr id="4" name="Slide Number Placeholder 3"/>
          <p:cNvSpPr>
            <a:spLocks noGrp="1"/>
          </p:cNvSpPr>
          <p:nvPr>
            <p:ph type="sldNum" sz="quarter" idx="5"/>
          </p:nvPr>
        </p:nvSpPr>
        <p:spPr/>
        <p:txBody>
          <a:bodyPr/>
          <a:lstStyle/>
          <a:p>
            <a:fld id="{86F4CC14-C132-458E-8229-0B880DBCD8C6}" type="slidenum">
              <a:rPr lang="en-US" smtClean="0"/>
              <a:t>7</a:t>
            </a:fld>
            <a:endParaRPr lang="en-US"/>
          </a:p>
        </p:txBody>
      </p:sp>
    </p:spTree>
    <p:extLst>
      <p:ext uri="{BB962C8B-B14F-4D97-AF65-F5344CB8AC3E}">
        <p14:creationId xmlns:p14="http://schemas.microsoft.com/office/powerpoint/2010/main" val="364132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identifying broader national patterns, I wanted to examine food access at a more localized level within West Virginia counties. County-level analysis helped show how statewide averages can hide major differences between individual communities. This map revealed that food access disparities were not evenly distributed across West Virginia. Some counties showed substantially higher levels of limited food access than others.</a:t>
            </a:r>
          </a:p>
        </p:txBody>
      </p:sp>
      <p:sp>
        <p:nvSpPr>
          <p:cNvPr id="4" name="Slide Number Placeholder 3"/>
          <p:cNvSpPr>
            <a:spLocks noGrp="1"/>
          </p:cNvSpPr>
          <p:nvPr>
            <p:ph type="sldNum" sz="quarter" idx="5"/>
          </p:nvPr>
        </p:nvSpPr>
        <p:spPr/>
        <p:txBody>
          <a:bodyPr/>
          <a:lstStyle/>
          <a:p>
            <a:fld id="{86F4CC14-C132-458E-8229-0B880DBCD8C6}" type="slidenum">
              <a:rPr lang="en-US" smtClean="0"/>
              <a:t>8</a:t>
            </a:fld>
            <a:endParaRPr lang="en-US"/>
          </a:p>
        </p:txBody>
      </p:sp>
    </p:spTree>
    <p:extLst>
      <p:ext uri="{BB962C8B-B14F-4D97-AF65-F5344CB8AC3E}">
        <p14:creationId xmlns:p14="http://schemas.microsoft.com/office/powerpoint/2010/main" val="23294000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explore the data more closely, I focused on the top 5 counties with highest low access rate and the type of stores they offer, as an example of how localized food access conditions can become. </a:t>
            </a:r>
          </a:p>
        </p:txBody>
      </p:sp>
      <p:sp>
        <p:nvSpPr>
          <p:cNvPr id="4" name="Slide Number Placeholder 3"/>
          <p:cNvSpPr>
            <a:spLocks noGrp="1"/>
          </p:cNvSpPr>
          <p:nvPr>
            <p:ph type="sldNum" sz="quarter" idx="5"/>
          </p:nvPr>
        </p:nvSpPr>
        <p:spPr/>
        <p:txBody>
          <a:bodyPr/>
          <a:lstStyle/>
          <a:p>
            <a:fld id="{86F4CC14-C132-458E-8229-0B880DBCD8C6}" type="slidenum">
              <a:rPr lang="en-US" smtClean="0"/>
              <a:t>9</a:t>
            </a:fld>
            <a:endParaRPr lang="en-US"/>
          </a:p>
        </p:txBody>
      </p:sp>
    </p:spTree>
    <p:extLst>
      <p:ext uri="{BB962C8B-B14F-4D97-AF65-F5344CB8AC3E}">
        <p14:creationId xmlns:p14="http://schemas.microsoft.com/office/powerpoint/2010/main" val="4201098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examining West Virginia more closely, I wanted to compare those county-level patterns with Kentucky to determine whether similar trends appeared across neighboring Appalachian regions. While both states showed evidence of localized food access disparities, the geographic distribution patterns were not identical. There are more people living in the state of Kentucky than West Virginia. Since the low access rate is based on population the data does reflect that.</a:t>
            </a:r>
          </a:p>
          <a:p>
            <a:endParaRPr lang="en-US" dirty="0"/>
          </a:p>
        </p:txBody>
      </p:sp>
      <p:sp>
        <p:nvSpPr>
          <p:cNvPr id="4" name="Slide Number Placeholder 3"/>
          <p:cNvSpPr>
            <a:spLocks noGrp="1"/>
          </p:cNvSpPr>
          <p:nvPr>
            <p:ph type="sldNum" sz="quarter" idx="5"/>
          </p:nvPr>
        </p:nvSpPr>
        <p:spPr/>
        <p:txBody>
          <a:bodyPr/>
          <a:lstStyle/>
          <a:p>
            <a:fld id="{86F4CC14-C132-458E-8229-0B880DBCD8C6}" type="slidenum">
              <a:rPr lang="en-US" smtClean="0"/>
              <a:t>10</a:t>
            </a:fld>
            <a:endParaRPr lang="en-US"/>
          </a:p>
        </p:txBody>
      </p:sp>
    </p:spTree>
    <p:extLst>
      <p:ext uri="{BB962C8B-B14F-4D97-AF65-F5344CB8AC3E}">
        <p14:creationId xmlns:p14="http://schemas.microsoft.com/office/powerpoint/2010/main" val="1339800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previous visual summarized county-level differences, the interactive map allowed me to explore those patterns more dynamically across West Virginia. One important takeaway was that neighboring counties could still show noticeably different patterns, reinforcing how localized these challenges can become. ***Switch to python for map interaction.***</a:t>
            </a:r>
          </a:p>
        </p:txBody>
      </p:sp>
      <p:sp>
        <p:nvSpPr>
          <p:cNvPr id="4" name="Slide Number Placeholder 3"/>
          <p:cNvSpPr>
            <a:spLocks noGrp="1"/>
          </p:cNvSpPr>
          <p:nvPr>
            <p:ph type="sldNum" sz="quarter" idx="5"/>
          </p:nvPr>
        </p:nvSpPr>
        <p:spPr/>
        <p:txBody>
          <a:bodyPr/>
          <a:lstStyle/>
          <a:p>
            <a:fld id="{86F4CC14-C132-458E-8229-0B880DBCD8C6}" type="slidenum">
              <a:rPr lang="en-US" smtClean="0"/>
              <a:t>11</a:t>
            </a:fld>
            <a:endParaRPr lang="en-US"/>
          </a:p>
        </p:txBody>
      </p:sp>
    </p:spTree>
    <p:extLst>
      <p:ext uri="{BB962C8B-B14F-4D97-AF65-F5344CB8AC3E}">
        <p14:creationId xmlns:p14="http://schemas.microsoft.com/office/powerpoint/2010/main" val="2057863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Tracking data while making new visuals, accidentally deleting columns I needed, working out of two notebooks and thinking the codes wouldn’t be different</a:t>
            </a:r>
          </a:p>
          <a:p>
            <a:endParaRPr lang="en-US" dirty="0"/>
          </a:p>
          <a:p>
            <a:r>
              <a:rPr lang="en-US" dirty="0"/>
              <a:t>The dataset contained a very large number of demographic and geographic variables, so organizing and cleaning the data became a major part of the project.</a:t>
            </a:r>
          </a:p>
        </p:txBody>
      </p:sp>
      <p:sp>
        <p:nvSpPr>
          <p:cNvPr id="4" name="Slide Number Placeholder 3"/>
          <p:cNvSpPr>
            <a:spLocks noGrp="1"/>
          </p:cNvSpPr>
          <p:nvPr>
            <p:ph type="sldNum" sz="quarter" idx="5"/>
          </p:nvPr>
        </p:nvSpPr>
        <p:spPr/>
        <p:txBody>
          <a:bodyPr/>
          <a:lstStyle/>
          <a:p>
            <a:fld id="{86F4CC14-C132-458E-8229-0B880DBCD8C6}" type="slidenum">
              <a:rPr lang="en-US" smtClean="0"/>
              <a:t>12</a:t>
            </a:fld>
            <a:endParaRPr lang="en-US"/>
          </a:p>
        </p:txBody>
      </p:sp>
    </p:spTree>
    <p:extLst>
      <p:ext uri="{BB962C8B-B14F-4D97-AF65-F5344CB8AC3E}">
        <p14:creationId xmlns:p14="http://schemas.microsoft.com/office/powerpoint/2010/main" val="1719545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3EC4F4-4E04-4C1B-958C-5E5139E67BF7}"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E5BDC590-5A59-4E19-82D7-F7AD9E937028}" type="slidenum">
              <a:rPr lang="en-US" smtClean="0"/>
              <a:t>‹#›</a:t>
            </a:fld>
            <a:endParaRPr lang="en-US"/>
          </a:p>
        </p:txBody>
      </p:sp>
    </p:spTree>
    <p:extLst>
      <p:ext uri="{BB962C8B-B14F-4D97-AF65-F5344CB8AC3E}">
        <p14:creationId xmlns:p14="http://schemas.microsoft.com/office/powerpoint/2010/main" val="3676834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3EC4F4-4E04-4C1B-958C-5E5139E67BF7}"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E5BDC590-5A59-4E19-82D7-F7AD9E937028}" type="slidenum">
              <a:rPr lang="en-US" smtClean="0"/>
              <a:t>‹#›</a:t>
            </a:fld>
            <a:endParaRPr lang="en-US"/>
          </a:p>
        </p:txBody>
      </p:sp>
    </p:spTree>
    <p:extLst>
      <p:ext uri="{BB962C8B-B14F-4D97-AF65-F5344CB8AC3E}">
        <p14:creationId xmlns:p14="http://schemas.microsoft.com/office/powerpoint/2010/main" val="1437171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3EC4F4-4E04-4C1B-958C-5E5139E67BF7}"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5BDC590-5A59-4E19-82D7-F7AD9E937028}" type="slidenum">
              <a:rPr lang="en-US" smtClean="0"/>
              <a:t>‹#›</a:t>
            </a:fld>
            <a:endParaRPr lang="en-US"/>
          </a:p>
        </p:txBody>
      </p:sp>
    </p:spTree>
    <p:extLst>
      <p:ext uri="{BB962C8B-B14F-4D97-AF65-F5344CB8AC3E}">
        <p14:creationId xmlns:p14="http://schemas.microsoft.com/office/powerpoint/2010/main" val="16894385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3EC4F4-4E04-4C1B-958C-5E5139E67BF7}"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E5BDC590-5A59-4E19-82D7-F7AD9E937028}" type="slidenum">
              <a:rPr lang="en-US" smtClean="0"/>
              <a:t>‹#›</a:t>
            </a:fld>
            <a:endParaRPr lang="en-US"/>
          </a:p>
        </p:txBody>
      </p:sp>
    </p:spTree>
    <p:extLst>
      <p:ext uri="{BB962C8B-B14F-4D97-AF65-F5344CB8AC3E}">
        <p14:creationId xmlns:p14="http://schemas.microsoft.com/office/powerpoint/2010/main" val="2767773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3EC4F4-4E04-4C1B-958C-5E5139E67BF7}" type="datetimeFigureOut">
              <a:rPr lang="en-US" smtClean="0"/>
              <a:t>5/20/2026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E5BDC590-5A59-4E19-82D7-F7AD9E937028}" type="slidenum">
              <a:rPr lang="en-US" smtClean="0"/>
              <a:t>‹#›</a:t>
            </a:fld>
            <a:endParaRPr lang="en-US"/>
          </a:p>
        </p:txBody>
      </p:sp>
    </p:spTree>
    <p:extLst>
      <p:ext uri="{BB962C8B-B14F-4D97-AF65-F5344CB8AC3E}">
        <p14:creationId xmlns:p14="http://schemas.microsoft.com/office/powerpoint/2010/main" val="2375115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3EC4F4-4E04-4C1B-958C-5E5139E67BF7}" type="datetimeFigureOut">
              <a:rPr lang="en-US" smtClean="0"/>
              <a:t>5/20/2026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E5BDC590-5A59-4E19-82D7-F7AD9E937028}" type="slidenum">
              <a:rPr lang="en-US" smtClean="0"/>
              <a:t>‹#›</a:t>
            </a:fld>
            <a:endParaRPr lang="en-US"/>
          </a:p>
        </p:txBody>
      </p:sp>
    </p:spTree>
    <p:extLst>
      <p:ext uri="{BB962C8B-B14F-4D97-AF65-F5344CB8AC3E}">
        <p14:creationId xmlns:p14="http://schemas.microsoft.com/office/powerpoint/2010/main" val="1451197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3EC4F4-4E04-4C1B-958C-5E5139E67BF7}" type="datetimeFigureOut">
              <a:rPr lang="en-US" smtClean="0"/>
              <a:t>5/20/2026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E5BDC590-5A59-4E19-82D7-F7AD9E937028}" type="slidenum">
              <a:rPr lang="en-US" smtClean="0"/>
              <a:t>‹#›</a:t>
            </a:fld>
            <a:endParaRPr lang="en-US"/>
          </a:p>
        </p:txBody>
      </p:sp>
    </p:spTree>
    <p:extLst>
      <p:ext uri="{BB962C8B-B14F-4D97-AF65-F5344CB8AC3E}">
        <p14:creationId xmlns:p14="http://schemas.microsoft.com/office/powerpoint/2010/main" val="947772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3EC4F4-4E04-4C1B-958C-5E5139E67BF7}"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E5BDC590-5A59-4E19-82D7-F7AD9E937028}" type="slidenum">
              <a:rPr lang="en-US" smtClean="0"/>
              <a:t>‹#›</a:t>
            </a:fld>
            <a:endParaRPr lang="en-US"/>
          </a:p>
        </p:txBody>
      </p:sp>
    </p:spTree>
    <p:extLst>
      <p:ext uri="{BB962C8B-B14F-4D97-AF65-F5344CB8AC3E}">
        <p14:creationId xmlns:p14="http://schemas.microsoft.com/office/powerpoint/2010/main" val="422577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D3EC4F4-4E04-4C1B-958C-5E5139E67BF7}"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5BDC590-5A59-4E19-82D7-F7AD9E937028}" type="slidenum">
              <a:rPr lang="en-US" smtClean="0"/>
              <a:t>‹#›</a:t>
            </a:fld>
            <a:endParaRPr lang="en-US"/>
          </a:p>
        </p:txBody>
      </p:sp>
    </p:spTree>
    <p:extLst>
      <p:ext uri="{BB962C8B-B14F-4D97-AF65-F5344CB8AC3E}">
        <p14:creationId xmlns:p14="http://schemas.microsoft.com/office/powerpoint/2010/main" val="536087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3EC4F4-4E04-4C1B-958C-5E5139E67BF7}"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5BDC590-5A59-4E19-82D7-F7AD9E937028}" type="slidenum">
              <a:rPr lang="en-US" smtClean="0"/>
              <a:t>‹#›</a:t>
            </a:fld>
            <a:endParaRPr lang="en-US"/>
          </a:p>
        </p:txBody>
      </p:sp>
    </p:spTree>
    <p:extLst>
      <p:ext uri="{BB962C8B-B14F-4D97-AF65-F5344CB8AC3E}">
        <p14:creationId xmlns:p14="http://schemas.microsoft.com/office/powerpoint/2010/main" val="36992750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3EC4F4-4E04-4C1B-958C-5E5139E67BF7}"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E5BDC590-5A59-4E19-82D7-F7AD9E937028}"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399091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D3EC4F4-4E04-4C1B-958C-5E5139E67BF7}"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5BDC590-5A59-4E19-82D7-F7AD9E937028}" type="slidenum">
              <a:rPr lang="en-US" smtClean="0"/>
              <a:t>‹#›</a:t>
            </a:fld>
            <a:endParaRPr lang="en-US"/>
          </a:p>
        </p:txBody>
      </p:sp>
    </p:spTree>
    <p:extLst>
      <p:ext uri="{BB962C8B-B14F-4D97-AF65-F5344CB8AC3E}">
        <p14:creationId xmlns:p14="http://schemas.microsoft.com/office/powerpoint/2010/main" val="857369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D3EC4F4-4E04-4C1B-958C-5E5139E67BF7}"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5BDC590-5A59-4E19-82D7-F7AD9E937028}"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29516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D3EC4F4-4E04-4C1B-958C-5E5139E67BF7}" type="datetimeFigureOut">
              <a:rPr lang="en-US" smtClean="0"/>
              <a:t>5/20/2026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E5BDC590-5A59-4E19-82D7-F7AD9E937028}" type="slidenum">
              <a:rPr lang="en-US" smtClean="0"/>
              <a:t>‹#›</a:t>
            </a:fld>
            <a:endParaRPr lang="en-US"/>
          </a:p>
        </p:txBody>
      </p:sp>
    </p:spTree>
    <p:extLst>
      <p:ext uri="{BB962C8B-B14F-4D97-AF65-F5344CB8AC3E}">
        <p14:creationId xmlns:p14="http://schemas.microsoft.com/office/powerpoint/2010/main" val="3285282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3EC4F4-4E04-4C1B-958C-5E5139E67BF7}"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5BDC590-5A59-4E19-82D7-F7AD9E937028}" type="slidenum">
              <a:rPr lang="en-US" smtClean="0"/>
              <a:t>‹#›</a:t>
            </a:fld>
            <a:endParaRPr lang="en-US"/>
          </a:p>
        </p:txBody>
      </p:sp>
    </p:spTree>
    <p:extLst>
      <p:ext uri="{BB962C8B-B14F-4D97-AF65-F5344CB8AC3E}">
        <p14:creationId xmlns:p14="http://schemas.microsoft.com/office/powerpoint/2010/main" val="354447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3EC4F4-4E04-4C1B-958C-5E5139E67BF7}" type="datetimeFigureOut">
              <a:rPr lang="en-US" smtClean="0"/>
              <a:t>5/20/2026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5BDC590-5A59-4E19-82D7-F7AD9E937028}" type="slidenum">
              <a:rPr lang="en-US" smtClean="0"/>
              <a:t>‹#›</a:t>
            </a:fld>
            <a:endParaRPr lang="en-US"/>
          </a:p>
        </p:txBody>
      </p:sp>
    </p:spTree>
    <p:extLst>
      <p:ext uri="{BB962C8B-B14F-4D97-AF65-F5344CB8AC3E}">
        <p14:creationId xmlns:p14="http://schemas.microsoft.com/office/powerpoint/2010/main" val="2845275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D3EC4F4-4E04-4C1B-958C-5E5139E67BF7}" type="datetimeFigureOut">
              <a:rPr lang="en-US" smtClean="0"/>
              <a:t>5/20/2026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E5BDC590-5A59-4E19-82D7-F7AD9E937028}" type="slidenum">
              <a:rPr lang="en-US" smtClean="0"/>
              <a:t>‹#›</a:t>
            </a:fld>
            <a:endParaRPr lang="en-US"/>
          </a:p>
        </p:txBody>
      </p:sp>
    </p:spTree>
    <p:extLst>
      <p:ext uri="{BB962C8B-B14F-4D97-AF65-F5344CB8AC3E}">
        <p14:creationId xmlns:p14="http://schemas.microsoft.com/office/powerpoint/2010/main" val="13467409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64D15-A188-5F52-4749-68051E302A05}"/>
              </a:ext>
            </a:extLst>
          </p:cNvPr>
          <p:cNvSpPr>
            <a:spLocks noGrp="1"/>
          </p:cNvSpPr>
          <p:nvPr>
            <p:ph type="ctrTitle"/>
          </p:nvPr>
        </p:nvSpPr>
        <p:spPr>
          <a:xfrm>
            <a:off x="1524000" y="1122363"/>
            <a:ext cx="9339470" cy="2387600"/>
          </a:xfrm>
        </p:spPr>
        <p:txBody>
          <a:bodyPr>
            <a:normAutofit/>
          </a:bodyPr>
          <a:lstStyle/>
          <a:p>
            <a:r>
              <a:rPr lang="en-US"/>
              <a:t>Food Access in the United States</a:t>
            </a:r>
            <a:endParaRPr lang="en-US" dirty="0"/>
          </a:p>
        </p:txBody>
      </p:sp>
      <p:sp>
        <p:nvSpPr>
          <p:cNvPr id="3" name="Subtitle 2">
            <a:extLst>
              <a:ext uri="{FF2B5EF4-FFF2-40B4-BE49-F238E27FC236}">
                <a16:creationId xmlns:a16="http://schemas.microsoft.com/office/drawing/2014/main" id="{EF95FF86-3172-9A8A-B5AA-05243627F435}"/>
              </a:ext>
            </a:extLst>
          </p:cNvPr>
          <p:cNvSpPr>
            <a:spLocks noGrp="1"/>
          </p:cNvSpPr>
          <p:nvPr>
            <p:ph type="subTitle" idx="1"/>
          </p:nvPr>
        </p:nvSpPr>
        <p:spPr/>
        <p:txBody>
          <a:bodyPr/>
          <a:lstStyle/>
          <a:p>
            <a:r>
              <a:rPr lang="en-US"/>
              <a:t>Lauren O’Donnell</a:t>
            </a:r>
            <a:endParaRPr lang="en-US" dirty="0"/>
          </a:p>
        </p:txBody>
      </p:sp>
    </p:spTree>
    <p:extLst>
      <p:ext uri="{BB962C8B-B14F-4D97-AF65-F5344CB8AC3E}">
        <p14:creationId xmlns:p14="http://schemas.microsoft.com/office/powerpoint/2010/main" val="15482615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AC6C9-8EEC-4448-8C5C-46D102A10438}"/>
              </a:ext>
            </a:extLst>
          </p:cNvPr>
          <p:cNvSpPr>
            <a:spLocks noGrp="1"/>
          </p:cNvSpPr>
          <p:nvPr>
            <p:ph type="title"/>
          </p:nvPr>
        </p:nvSpPr>
        <p:spPr/>
        <p:txBody>
          <a:bodyPr/>
          <a:lstStyle/>
          <a:p>
            <a:r>
              <a:rPr lang="en-US" dirty="0"/>
              <a:t>Why food access matters</a:t>
            </a:r>
          </a:p>
        </p:txBody>
      </p:sp>
      <p:sp>
        <p:nvSpPr>
          <p:cNvPr id="3" name="Content Placeholder 2">
            <a:extLst>
              <a:ext uri="{FF2B5EF4-FFF2-40B4-BE49-F238E27FC236}">
                <a16:creationId xmlns:a16="http://schemas.microsoft.com/office/drawing/2014/main" id="{F594FC70-1736-1C51-BA5D-91B671EF4566}"/>
              </a:ext>
            </a:extLst>
          </p:cNvPr>
          <p:cNvSpPr>
            <a:spLocks noGrp="1"/>
          </p:cNvSpPr>
          <p:nvPr>
            <p:ph idx="1"/>
          </p:nvPr>
        </p:nvSpPr>
        <p:spPr>
          <a:xfrm>
            <a:off x="2386361" y="1905000"/>
            <a:ext cx="9118251" cy="4006222"/>
          </a:xfrm>
        </p:spPr>
        <p:txBody>
          <a:bodyPr>
            <a:normAutofit/>
          </a:bodyPr>
          <a:lstStyle/>
          <a:p>
            <a:pPr marL="0" indent="0">
              <a:lnSpc>
                <a:spcPct val="200000"/>
              </a:lnSpc>
              <a:buNone/>
            </a:pPr>
            <a:r>
              <a:rPr lang="en-US" sz="3000" dirty="0"/>
              <a:t>Limited access can influence:</a:t>
            </a:r>
          </a:p>
          <a:p>
            <a:pPr lvl="1">
              <a:lnSpc>
                <a:spcPct val="200000"/>
              </a:lnSpc>
            </a:pPr>
            <a:r>
              <a:rPr lang="en-US" sz="2600" dirty="0"/>
              <a:t>Nutrition </a:t>
            </a:r>
          </a:p>
          <a:p>
            <a:pPr lvl="1">
              <a:lnSpc>
                <a:spcPct val="200000"/>
              </a:lnSpc>
            </a:pPr>
            <a:r>
              <a:rPr lang="en-US" sz="2600" dirty="0"/>
              <a:t>Transportation costs </a:t>
            </a:r>
          </a:p>
          <a:p>
            <a:pPr lvl="1">
              <a:lnSpc>
                <a:spcPct val="200000"/>
              </a:lnSpc>
            </a:pPr>
            <a:r>
              <a:rPr lang="en-US" sz="2600" dirty="0"/>
              <a:t>Healthcare outcomes </a:t>
            </a:r>
          </a:p>
          <a:p>
            <a:pPr marL="0" indent="0">
              <a:buNone/>
            </a:pPr>
            <a:endParaRPr lang="en-US" dirty="0"/>
          </a:p>
        </p:txBody>
      </p:sp>
    </p:spTree>
    <p:extLst>
      <p:ext uri="{BB962C8B-B14F-4D97-AF65-F5344CB8AC3E}">
        <p14:creationId xmlns:p14="http://schemas.microsoft.com/office/powerpoint/2010/main" val="3935372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EF0FF-7ED8-E7F2-35C7-9E79B9F7B15E}"/>
              </a:ext>
            </a:extLst>
          </p:cNvPr>
          <p:cNvSpPr>
            <a:spLocks noGrp="1"/>
          </p:cNvSpPr>
          <p:nvPr>
            <p:ph type="title"/>
          </p:nvPr>
        </p:nvSpPr>
        <p:spPr/>
        <p:txBody>
          <a:bodyPr/>
          <a:lstStyle/>
          <a:p>
            <a:r>
              <a:rPr lang="en-US" dirty="0"/>
              <a:t>Research Question</a:t>
            </a:r>
          </a:p>
        </p:txBody>
      </p:sp>
      <p:sp>
        <p:nvSpPr>
          <p:cNvPr id="6" name="TextBox 5">
            <a:extLst>
              <a:ext uri="{FF2B5EF4-FFF2-40B4-BE49-F238E27FC236}">
                <a16:creationId xmlns:a16="http://schemas.microsoft.com/office/drawing/2014/main" id="{2961E5B7-8B62-5018-6014-86ABC382CDBD}"/>
              </a:ext>
            </a:extLst>
          </p:cNvPr>
          <p:cNvSpPr txBox="1"/>
          <p:nvPr/>
        </p:nvSpPr>
        <p:spPr>
          <a:xfrm>
            <a:off x="1080588" y="2054217"/>
            <a:ext cx="11936360" cy="1815882"/>
          </a:xfrm>
          <a:prstGeom prst="rect">
            <a:avLst/>
          </a:prstGeom>
          <a:noFill/>
        </p:spPr>
        <p:txBody>
          <a:bodyPr wrap="square" rtlCol="0">
            <a:spAutoFit/>
          </a:bodyPr>
          <a:lstStyle/>
          <a:p>
            <a:r>
              <a:rPr lang="en-US" sz="2800" dirty="0"/>
              <a:t>How does geographic location influence food access patterns across the United States?</a:t>
            </a:r>
          </a:p>
          <a:p>
            <a:endParaRPr lang="en-US" sz="2800" dirty="0"/>
          </a:p>
          <a:p>
            <a:pPr marL="914400" lvl="1" indent="-457200">
              <a:buFont typeface="Arial" panose="020B0604020202020204" pitchFamily="34" charset="0"/>
              <a:buChar char="•"/>
            </a:pPr>
            <a:endParaRPr lang="en-US" sz="2800" dirty="0"/>
          </a:p>
        </p:txBody>
      </p:sp>
    </p:spTree>
    <p:extLst>
      <p:ext uri="{BB962C8B-B14F-4D97-AF65-F5344CB8AC3E}">
        <p14:creationId xmlns:p14="http://schemas.microsoft.com/office/powerpoint/2010/main" val="3105098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110D6-CC5E-4D9F-B35A-75EFC4BBD453}"/>
              </a:ext>
            </a:extLst>
          </p:cNvPr>
          <p:cNvSpPr>
            <a:spLocks noGrp="1"/>
          </p:cNvSpPr>
          <p:nvPr>
            <p:ph type="title"/>
          </p:nvPr>
        </p:nvSpPr>
        <p:spPr/>
        <p:txBody>
          <a:bodyPr/>
          <a:lstStyle/>
          <a:p>
            <a:r>
              <a:rPr lang="en-US" dirty="0"/>
              <a:t>Data Sources and Tools</a:t>
            </a:r>
          </a:p>
        </p:txBody>
      </p:sp>
      <p:sp>
        <p:nvSpPr>
          <p:cNvPr id="3" name="Content Placeholder 2">
            <a:extLst>
              <a:ext uri="{FF2B5EF4-FFF2-40B4-BE49-F238E27FC236}">
                <a16:creationId xmlns:a16="http://schemas.microsoft.com/office/drawing/2014/main" id="{02A3CB96-E327-CFD0-8B1C-2392D9C3B55C}"/>
              </a:ext>
            </a:extLst>
          </p:cNvPr>
          <p:cNvSpPr>
            <a:spLocks noGrp="1"/>
          </p:cNvSpPr>
          <p:nvPr>
            <p:ph idx="1"/>
          </p:nvPr>
        </p:nvSpPr>
        <p:spPr/>
        <p:txBody>
          <a:bodyPr>
            <a:normAutofit/>
          </a:bodyPr>
          <a:lstStyle/>
          <a:p>
            <a:r>
              <a:rPr lang="en-US" sz="2400" dirty="0"/>
              <a:t>USDA Food Access Research Atlas</a:t>
            </a:r>
          </a:p>
          <a:p>
            <a:r>
              <a:rPr lang="en-US" sz="2400" dirty="0"/>
              <a:t>Excel</a:t>
            </a:r>
          </a:p>
          <a:p>
            <a:r>
              <a:rPr lang="en-US" sz="2400" dirty="0"/>
              <a:t>Python</a:t>
            </a:r>
          </a:p>
        </p:txBody>
      </p:sp>
    </p:spTree>
    <p:extLst>
      <p:ext uri="{BB962C8B-B14F-4D97-AF65-F5344CB8AC3E}">
        <p14:creationId xmlns:p14="http://schemas.microsoft.com/office/powerpoint/2010/main" val="104389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A6B17-E7D1-24AD-9581-BC0AC78F3A1F}"/>
              </a:ext>
            </a:extLst>
          </p:cNvPr>
          <p:cNvSpPr>
            <a:spLocks noGrp="1"/>
          </p:cNvSpPr>
          <p:nvPr>
            <p:ph type="title"/>
          </p:nvPr>
        </p:nvSpPr>
        <p:spPr/>
        <p:txBody>
          <a:bodyPr/>
          <a:lstStyle/>
          <a:p>
            <a:r>
              <a:rPr lang="en-US" dirty="0"/>
              <a:t>National Geographic Patterns</a:t>
            </a:r>
          </a:p>
        </p:txBody>
      </p:sp>
      <p:pic>
        <p:nvPicPr>
          <p:cNvPr id="5" name="Picture 4">
            <a:extLst>
              <a:ext uri="{FF2B5EF4-FFF2-40B4-BE49-F238E27FC236}">
                <a16:creationId xmlns:a16="http://schemas.microsoft.com/office/drawing/2014/main" id="{9DAB225B-00D7-524E-890E-66A4CE21B8A2}"/>
              </a:ext>
            </a:extLst>
          </p:cNvPr>
          <p:cNvPicPr>
            <a:picLocks noChangeAspect="1"/>
          </p:cNvPicPr>
          <p:nvPr/>
        </p:nvPicPr>
        <p:blipFill>
          <a:blip r:embed="rId3">
            <a:extLst>
              <a:ext uri="{28A0092B-C50C-407E-A947-70E740481C1C}">
                <a14:useLocalDpi xmlns:a14="http://schemas.microsoft.com/office/drawing/2010/main" val="0"/>
              </a:ext>
            </a:extLst>
          </a:blip>
          <a:srcRect l="4799" t="6160" r="1685" b="20240"/>
          <a:stretch>
            <a:fillRect/>
          </a:stretch>
        </p:blipFill>
        <p:spPr>
          <a:xfrm>
            <a:off x="595542" y="1678304"/>
            <a:ext cx="11596458" cy="3501391"/>
          </a:xfrm>
          <a:prstGeom prst="rect">
            <a:avLst/>
          </a:prstGeom>
        </p:spPr>
      </p:pic>
    </p:spTree>
    <p:extLst>
      <p:ext uri="{BB962C8B-B14F-4D97-AF65-F5344CB8AC3E}">
        <p14:creationId xmlns:p14="http://schemas.microsoft.com/office/powerpoint/2010/main" val="3705812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DEA51-77A9-9C4E-DE76-15031252D965}"/>
              </a:ext>
            </a:extLst>
          </p:cNvPr>
          <p:cNvSpPr>
            <a:spLocks noGrp="1"/>
          </p:cNvSpPr>
          <p:nvPr>
            <p:ph type="title"/>
          </p:nvPr>
        </p:nvSpPr>
        <p:spPr/>
        <p:txBody>
          <a:bodyPr/>
          <a:lstStyle/>
          <a:p>
            <a:r>
              <a:rPr lang="en-US" dirty="0"/>
              <a:t>National Demographic Findings</a:t>
            </a:r>
          </a:p>
        </p:txBody>
      </p:sp>
      <p:pic>
        <p:nvPicPr>
          <p:cNvPr id="13" name="Picture 12">
            <a:extLst>
              <a:ext uri="{FF2B5EF4-FFF2-40B4-BE49-F238E27FC236}">
                <a16:creationId xmlns:a16="http://schemas.microsoft.com/office/drawing/2014/main" id="{91C9633E-DC8C-1DCB-E517-B87C809FAE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251" y="1315705"/>
            <a:ext cx="5649134" cy="4828234"/>
          </a:xfrm>
          <a:prstGeom prst="rect">
            <a:avLst/>
          </a:prstGeom>
        </p:spPr>
      </p:pic>
      <p:pic>
        <p:nvPicPr>
          <p:cNvPr id="6" name="Picture 5">
            <a:extLst>
              <a:ext uri="{FF2B5EF4-FFF2-40B4-BE49-F238E27FC236}">
                <a16:creationId xmlns:a16="http://schemas.microsoft.com/office/drawing/2014/main" id="{29F26EF6-6573-6B3E-3699-E069D77EA1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327059"/>
            <a:ext cx="5855269" cy="4816880"/>
          </a:xfrm>
          <a:prstGeom prst="rect">
            <a:avLst/>
          </a:prstGeom>
        </p:spPr>
      </p:pic>
    </p:spTree>
    <p:extLst>
      <p:ext uri="{BB962C8B-B14F-4D97-AF65-F5344CB8AC3E}">
        <p14:creationId xmlns:p14="http://schemas.microsoft.com/office/powerpoint/2010/main" val="1574887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8D5DA-2032-7421-4463-E1DBFB070472}"/>
              </a:ext>
            </a:extLst>
          </p:cNvPr>
          <p:cNvSpPr>
            <a:spLocks noGrp="1"/>
          </p:cNvSpPr>
          <p:nvPr>
            <p:ph type="title"/>
          </p:nvPr>
        </p:nvSpPr>
        <p:spPr/>
        <p:txBody>
          <a:bodyPr/>
          <a:lstStyle/>
          <a:p>
            <a:r>
              <a:rPr lang="en-US" dirty="0"/>
              <a:t>National Rural vs Urban Analysis</a:t>
            </a:r>
          </a:p>
        </p:txBody>
      </p:sp>
      <p:pic>
        <p:nvPicPr>
          <p:cNvPr id="5" name="Content Placeholder 4">
            <a:extLst>
              <a:ext uri="{FF2B5EF4-FFF2-40B4-BE49-F238E27FC236}">
                <a16:creationId xmlns:a16="http://schemas.microsoft.com/office/drawing/2014/main" id="{E5D9074E-748B-D4E9-375B-9AC75C355D6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24858" y="1302354"/>
            <a:ext cx="5409861" cy="4253291"/>
          </a:xfrm>
          <a:prstGeom prst="rect">
            <a:avLst/>
          </a:prstGeom>
        </p:spPr>
      </p:pic>
      <p:pic>
        <p:nvPicPr>
          <p:cNvPr id="4" name="Picture 3">
            <a:extLst>
              <a:ext uri="{FF2B5EF4-FFF2-40B4-BE49-F238E27FC236}">
                <a16:creationId xmlns:a16="http://schemas.microsoft.com/office/drawing/2014/main" id="{1F7C0DD3-CFB0-AD2B-A297-1C50366E7D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00377" y="1302354"/>
            <a:ext cx="6491623" cy="4253291"/>
          </a:xfrm>
          <a:prstGeom prst="rect">
            <a:avLst/>
          </a:prstGeom>
        </p:spPr>
      </p:pic>
    </p:spTree>
    <p:extLst>
      <p:ext uri="{BB962C8B-B14F-4D97-AF65-F5344CB8AC3E}">
        <p14:creationId xmlns:p14="http://schemas.microsoft.com/office/powerpoint/2010/main" val="3330997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3319DC3-7C7E-B3DF-6096-1EC0111E7CC7}"/>
              </a:ext>
            </a:extLst>
          </p:cNvPr>
          <p:cNvPicPr>
            <a:picLocks noChangeAspect="1"/>
          </p:cNvPicPr>
          <p:nvPr/>
        </p:nvPicPr>
        <p:blipFill>
          <a:blip r:embed="rId3">
            <a:extLst>
              <a:ext uri="{28A0092B-C50C-407E-A947-70E740481C1C}">
                <a14:useLocalDpi xmlns:a14="http://schemas.microsoft.com/office/drawing/2010/main" val="0"/>
              </a:ext>
            </a:extLst>
          </a:blip>
          <a:srcRect l="6008" t="7399" r="1356" b="11799"/>
          <a:stretch>
            <a:fillRect/>
          </a:stretch>
        </p:blipFill>
        <p:spPr>
          <a:xfrm>
            <a:off x="287655" y="1119798"/>
            <a:ext cx="11616690" cy="5567308"/>
          </a:xfrm>
          <a:prstGeom prst="rect">
            <a:avLst/>
          </a:prstGeom>
        </p:spPr>
      </p:pic>
      <p:sp>
        <p:nvSpPr>
          <p:cNvPr id="2" name="Title 1">
            <a:extLst>
              <a:ext uri="{FF2B5EF4-FFF2-40B4-BE49-F238E27FC236}">
                <a16:creationId xmlns:a16="http://schemas.microsoft.com/office/drawing/2014/main" id="{EB7DDE60-BF56-CF79-9467-5463E03E4AF5}"/>
              </a:ext>
            </a:extLst>
          </p:cNvPr>
          <p:cNvSpPr>
            <a:spLocks noGrp="1"/>
          </p:cNvSpPr>
          <p:nvPr>
            <p:ph type="title"/>
          </p:nvPr>
        </p:nvSpPr>
        <p:spPr/>
        <p:txBody>
          <a:bodyPr/>
          <a:lstStyle/>
          <a:p>
            <a:r>
              <a:rPr lang="en-US" dirty="0"/>
              <a:t>West Virginia County Analysis</a:t>
            </a:r>
          </a:p>
        </p:txBody>
      </p:sp>
    </p:spTree>
    <p:extLst>
      <p:ext uri="{BB962C8B-B14F-4D97-AF65-F5344CB8AC3E}">
        <p14:creationId xmlns:p14="http://schemas.microsoft.com/office/powerpoint/2010/main" val="1963152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ED8D2-EB94-56BA-909F-7375B4AFE54D}"/>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06D0AC22-FA27-DE71-F079-267688284B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5350" y="985295"/>
            <a:ext cx="10401300" cy="3429000"/>
          </a:xfrm>
          <a:prstGeom prst="rect">
            <a:avLst/>
          </a:prstGeom>
        </p:spPr>
      </p:pic>
      <p:sp>
        <p:nvSpPr>
          <p:cNvPr id="2" name="Title 1">
            <a:extLst>
              <a:ext uri="{FF2B5EF4-FFF2-40B4-BE49-F238E27FC236}">
                <a16:creationId xmlns:a16="http://schemas.microsoft.com/office/drawing/2014/main" id="{BA8D0C77-0954-1943-3A6E-4CFAE08F2DCC}"/>
              </a:ext>
            </a:extLst>
          </p:cNvPr>
          <p:cNvSpPr>
            <a:spLocks noGrp="1"/>
          </p:cNvSpPr>
          <p:nvPr>
            <p:ph type="title"/>
          </p:nvPr>
        </p:nvSpPr>
        <p:spPr>
          <a:xfrm>
            <a:off x="2436808" y="387461"/>
            <a:ext cx="6751797" cy="640445"/>
          </a:xfrm>
        </p:spPr>
        <p:txBody>
          <a:bodyPr/>
          <a:lstStyle/>
          <a:p>
            <a:r>
              <a:rPr lang="en-US" dirty="0"/>
              <a:t>West Virginia County Analysis</a:t>
            </a:r>
          </a:p>
        </p:txBody>
      </p:sp>
      <p:pic>
        <p:nvPicPr>
          <p:cNvPr id="11" name="Picture 10">
            <a:extLst>
              <a:ext uri="{FF2B5EF4-FFF2-40B4-BE49-F238E27FC236}">
                <a16:creationId xmlns:a16="http://schemas.microsoft.com/office/drawing/2014/main" id="{C86BB27A-CDAA-7ED1-7D48-E77FC0E94F18}"/>
              </a:ext>
            </a:extLst>
          </p:cNvPr>
          <p:cNvPicPr>
            <a:picLocks noChangeAspect="1"/>
          </p:cNvPicPr>
          <p:nvPr/>
        </p:nvPicPr>
        <p:blipFill>
          <a:blip r:embed="rId4">
            <a:extLst>
              <a:ext uri="{28A0092B-C50C-407E-A947-70E740481C1C}">
                <a14:useLocalDpi xmlns:a14="http://schemas.microsoft.com/office/drawing/2010/main" val="0"/>
              </a:ext>
            </a:extLst>
          </a:blip>
          <a:srcRect t="24333"/>
          <a:stretch>
            <a:fillRect/>
          </a:stretch>
        </p:blipFill>
        <p:spPr>
          <a:xfrm>
            <a:off x="741045" y="4267950"/>
            <a:ext cx="10709910" cy="2671593"/>
          </a:xfrm>
          <a:prstGeom prst="rect">
            <a:avLst/>
          </a:prstGeom>
        </p:spPr>
      </p:pic>
    </p:spTree>
    <p:extLst>
      <p:ext uri="{BB962C8B-B14F-4D97-AF65-F5344CB8AC3E}">
        <p14:creationId xmlns:p14="http://schemas.microsoft.com/office/powerpoint/2010/main" val="4265466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DFCA0-4573-3BC2-9CD0-0BECCEC4759E}"/>
              </a:ext>
            </a:extLst>
          </p:cNvPr>
          <p:cNvSpPr>
            <a:spLocks noGrp="1"/>
          </p:cNvSpPr>
          <p:nvPr>
            <p:ph type="title"/>
          </p:nvPr>
        </p:nvSpPr>
        <p:spPr/>
        <p:txBody>
          <a:bodyPr/>
          <a:lstStyle/>
          <a:p>
            <a:r>
              <a:rPr lang="en-US" dirty="0"/>
              <a:t>Kentucky vs WV County Comparison</a:t>
            </a:r>
          </a:p>
        </p:txBody>
      </p:sp>
      <p:pic>
        <p:nvPicPr>
          <p:cNvPr id="4" name="Picture 3">
            <a:extLst>
              <a:ext uri="{FF2B5EF4-FFF2-40B4-BE49-F238E27FC236}">
                <a16:creationId xmlns:a16="http://schemas.microsoft.com/office/drawing/2014/main" id="{A0B13C4F-42C8-6063-5BC5-CFA39FB800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234" y="1525905"/>
            <a:ext cx="11675327" cy="3849010"/>
          </a:xfrm>
          <a:prstGeom prst="rect">
            <a:avLst/>
          </a:prstGeom>
        </p:spPr>
      </p:pic>
    </p:spTree>
    <p:extLst>
      <p:ext uri="{BB962C8B-B14F-4D97-AF65-F5344CB8AC3E}">
        <p14:creationId xmlns:p14="http://schemas.microsoft.com/office/powerpoint/2010/main" val="3165244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58EF0-B82D-A5DD-7263-F3D81A194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76640-8795-3D31-52F7-921A7DBD8D0B}"/>
              </a:ext>
            </a:extLst>
          </p:cNvPr>
          <p:cNvSpPr>
            <a:spLocks noGrp="1"/>
          </p:cNvSpPr>
          <p:nvPr>
            <p:ph type="title"/>
          </p:nvPr>
        </p:nvSpPr>
        <p:spPr/>
        <p:txBody>
          <a:bodyPr/>
          <a:lstStyle/>
          <a:p>
            <a:r>
              <a:rPr lang="en-US" dirty="0"/>
              <a:t>West Virginia Map County Analysis</a:t>
            </a:r>
          </a:p>
        </p:txBody>
      </p:sp>
      <p:pic>
        <p:nvPicPr>
          <p:cNvPr id="6" name="Picture 5">
            <a:extLst>
              <a:ext uri="{FF2B5EF4-FFF2-40B4-BE49-F238E27FC236}">
                <a16:creationId xmlns:a16="http://schemas.microsoft.com/office/drawing/2014/main" id="{DE4007EE-3AA5-5303-7AF0-AE46B4CD14DD}"/>
              </a:ext>
            </a:extLst>
          </p:cNvPr>
          <p:cNvPicPr>
            <a:picLocks noChangeAspect="1"/>
          </p:cNvPicPr>
          <p:nvPr/>
        </p:nvPicPr>
        <p:blipFill>
          <a:blip r:embed="rId3">
            <a:extLst>
              <a:ext uri="{28A0092B-C50C-407E-A947-70E740481C1C}">
                <a14:useLocalDpi xmlns:a14="http://schemas.microsoft.com/office/drawing/2010/main" val="0"/>
              </a:ext>
            </a:extLst>
          </a:blip>
          <a:srcRect l="9964" t="7907" r="1465" b="10677"/>
          <a:stretch>
            <a:fillRect/>
          </a:stretch>
        </p:blipFill>
        <p:spPr>
          <a:xfrm>
            <a:off x="1088884" y="1264555"/>
            <a:ext cx="10014231" cy="5479252"/>
          </a:xfrm>
          <a:prstGeom prst="rect">
            <a:avLst/>
          </a:prstGeom>
        </p:spPr>
      </p:pic>
    </p:spTree>
    <p:extLst>
      <p:ext uri="{BB962C8B-B14F-4D97-AF65-F5344CB8AC3E}">
        <p14:creationId xmlns:p14="http://schemas.microsoft.com/office/powerpoint/2010/main" val="3438207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AA34F-8C1D-D292-E638-E9A5ACFB2929}"/>
              </a:ext>
            </a:extLst>
          </p:cNvPr>
          <p:cNvSpPr>
            <a:spLocks noGrp="1"/>
          </p:cNvSpPr>
          <p:nvPr>
            <p:ph type="title"/>
          </p:nvPr>
        </p:nvSpPr>
        <p:spPr/>
        <p:txBody>
          <a:bodyPr/>
          <a:lstStyle/>
          <a:p>
            <a:r>
              <a:rPr lang="en-US" dirty="0"/>
              <a:t>Challenges and Limitations</a:t>
            </a:r>
          </a:p>
        </p:txBody>
      </p:sp>
      <p:sp>
        <p:nvSpPr>
          <p:cNvPr id="3" name="Content Placeholder 2">
            <a:extLst>
              <a:ext uri="{FF2B5EF4-FFF2-40B4-BE49-F238E27FC236}">
                <a16:creationId xmlns:a16="http://schemas.microsoft.com/office/drawing/2014/main" id="{B6E23FC6-F12B-5B3D-F1FF-44D95962975D}"/>
              </a:ext>
            </a:extLst>
          </p:cNvPr>
          <p:cNvSpPr>
            <a:spLocks noGrp="1"/>
          </p:cNvSpPr>
          <p:nvPr>
            <p:ph idx="1"/>
          </p:nvPr>
        </p:nvSpPr>
        <p:spPr/>
        <p:txBody>
          <a:bodyPr/>
          <a:lstStyle/>
          <a:p>
            <a:pPr>
              <a:lnSpc>
                <a:spcPct val="200000"/>
              </a:lnSpc>
            </a:pPr>
            <a:r>
              <a:rPr lang="en-US" dirty="0"/>
              <a:t>Tracking data</a:t>
            </a:r>
          </a:p>
          <a:p>
            <a:pPr>
              <a:lnSpc>
                <a:spcPct val="200000"/>
              </a:lnSpc>
            </a:pPr>
            <a:r>
              <a:rPr lang="en-US" dirty="0"/>
              <a:t>Multiple notebooks</a:t>
            </a:r>
          </a:p>
          <a:p>
            <a:pPr>
              <a:lnSpc>
                <a:spcPct val="200000"/>
              </a:lnSpc>
            </a:pPr>
            <a:r>
              <a:rPr lang="en-US" dirty="0"/>
              <a:t>Large dataset</a:t>
            </a:r>
          </a:p>
          <a:p>
            <a:pPr>
              <a:lnSpc>
                <a:spcPct val="200000"/>
              </a:lnSpc>
            </a:pPr>
            <a:r>
              <a:rPr lang="en-US" dirty="0"/>
              <a:t>A lot of visuals</a:t>
            </a:r>
          </a:p>
        </p:txBody>
      </p:sp>
    </p:spTree>
    <p:extLst>
      <p:ext uri="{BB962C8B-B14F-4D97-AF65-F5344CB8AC3E}">
        <p14:creationId xmlns:p14="http://schemas.microsoft.com/office/powerpoint/2010/main" val="3116622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E4E8D-4786-9ED8-4DF1-D41DAAF74D41}"/>
              </a:ext>
            </a:extLst>
          </p:cNvPr>
          <p:cNvSpPr>
            <a:spLocks noGrp="1"/>
          </p:cNvSpPr>
          <p:nvPr>
            <p:ph type="title"/>
          </p:nvPr>
        </p:nvSpPr>
        <p:spPr>
          <a:xfrm>
            <a:off x="4261757" y="2710542"/>
            <a:ext cx="3668486" cy="718458"/>
          </a:xfrm>
        </p:spPr>
        <p:txBody>
          <a:bodyPr>
            <a:normAutofit/>
          </a:bodyPr>
          <a:lstStyle/>
          <a:p>
            <a:pPr algn="ctr"/>
            <a:r>
              <a:rPr lang="en-US" dirty="0"/>
              <a:t>Questions?</a:t>
            </a:r>
          </a:p>
        </p:txBody>
      </p:sp>
    </p:spTree>
    <p:extLst>
      <p:ext uri="{BB962C8B-B14F-4D97-AF65-F5344CB8AC3E}">
        <p14:creationId xmlns:p14="http://schemas.microsoft.com/office/powerpoint/2010/main" val="383424180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1504</TotalTime>
  <Words>746</Words>
  <Application>Microsoft Office PowerPoint</Application>
  <PresentationFormat>Widescreen</PresentationFormat>
  <Paragraphs>65</Paragraphs>
  <Slides>13</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Century Gothic</vt:lpstr>
      <vt:lpstr>Wingdings 3</vt:lpstr>
      <vt:lpstr>Wisp</vt:lpstr>
      <vt:lpstr>Food Access in the United States</vt:lpstr>
      <vt:lpstr>Why food access matters</vt:lpstr>
      <vt:lpstr>Research Question</vt:lpstr>
      <vt:lpstr>Data Sources and Tools</vt:lpstr>
      <vt:lpstr>National Geographic Patterns</vt:lpstr>
      <vt:lpstr>National Demographic Findings</vt:lpstr>
      <vt:lpstr>National Rural vs Urban Analysis</vt:lpstr>
      <vt:lpstr>West Virginia County Analysis</vt:lpstr>
      <vt:lpstr>West Virginia County Analysis</vt:lpstr>
      <vt:lpstr>Kentucky vs WV County Comparison</vt:lpstr>
      <vt:lpstr>West Virginia Map County Analysis</vt:lpstr>
      <vt:lpstr>Challenges and Limitations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Lauren  Odonnell</dc:creator>
  <cp:lastModifiedBy>Lauren  Odonnell</cp:lastModifiedBy>
  <cp:revision>72</cp:revision>
  <dcterms:created xsi:type="dcterms:W3CDTF">2026-05-13T14:54:58Z</dcterms:created>
  <dcterms:modified xsi:type="dcterms:W3CDTF">2026-05-20T19:55:16Z</dcterms:modified>
</cp:coreProperties>
</file>